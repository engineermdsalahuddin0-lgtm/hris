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3def067-c4bf-dabb-485c-c13e5d043ef6}">
          <p14:sldIdLst>
            <p14:sldId id="256"/>
            <p14:sldId id="257"/>
          </p14:sldIdLst>
        </p14:section>
        <p14:section name="The product" id="{184dcd7b-25ff-a8eb-4364-8614195ffbb0}">
          <p14:sldIdLst>
            <p14:sldId id="258"/>
            <p14:sldId id="259"/>
            <p14:sldId id="260"/>
            <p14:sldId id="261"/>
          </p14:sldIdLst>
        </p14:section>
        <p14:section name="What each area does" id="{d202a21c-39ec-5511-584e-69ba3947af9f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hat is left" id="{fedd4571-9bc1-ef6a-4989-06c7fbf20632}">
          <p14:sldIdLst>
            <p14:sldId id="268"/>
            <p14:sldId id="269"/>
          </p14:sldIdLst>
        </p14:section>
        <p14:section name="Launch plan" id="{aa86ccce-a6d0-fd9f-09e9-043d8be0398a}">
          <p14:sldIdLst>
            <p14:sldId id="270"/>
            <p14:sldId id="271"/>
            <p14:sldId id="272"/>
          </p14:sldIdLst>
        </p14:section>
        <p14:section name="Decisions" id="{769da5a4-8b6e-cd23-707d-0a798f0f6538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Core HR</c:v>
                  </c:pt>
                  <c:pt idx="1">
                    <c:v>Time &amp; attendance</c:v>
                  </c:pt>
                  <c:pt idx="2">
                    <c:v>Payroll</c:v>
                  </c:pt>
                  <c:pt idx="3">
                    <c:v>Hiring</c:v>
                  </c:pt>
                  <c:pt idx="4">
                    <c:v>Communication</c:v>
                  </c:pt>
                  <c:pt idx="5">
                    <c:v>AI assistant</c:v>
                  </c:pt>
                  <c:pt idx="6">
                    <c:v>Documents (DMS)</c:v>
                  </c:pt>
                  <c:pt idx="7">
                    <c:v>Transport (TMS)</c:v>
                  </c:pt>
                  <c:pt idx="8">
                    <c:v>Other new modules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</c:v>
                </c:pt>
                <c:pt idx="1">
                  <c:v>9</c:v>
                </c:pt>
                <c:pt idx="2">
                  <c:v>5</c:v>
                </c:pt>
                <c:pt idx="3">
                  <c:v>9</c:v>
                </c:pt>
                <c:pt idx="4">
                  <c:v>3</c:v>
                </c:pt>
                <c:pt idx="5">
                  <c:v>7</c:v>
                </c:pt>
                <c:pt idx="6">
                  <c:v>6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Built, to deploy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Core HR</c:v>
                  </c:pt>
                  <c:pt idx="1">
                    <c:v>Time &amp; attendance</c:v>
                  </c:pt>
                  <c:pt idx="2">
                    <c:v>Payroll</c:v>
                  </c:pt>
                  <c:pt idx="3">
                    <c:v>Hiring</c:v>
                  </c:pt>
                  <c:pt idx="4">
                    <c:v>Communication</c:v>
                  </c:pt>
                  <c:pt idx="5">
                    <c:v>AI assistant</c:v>
                  </c:pt>
                  <c:pt idx="6">
                    <c:v>Documents (DMS)</c:v>
                  </c:pt>
                  <c:pt idx="7">
                    <c:v>Transport (TMS)</c:v>
                  </c:pt>
                  <c:pt idx="8">
                    <c:v>Other new modules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started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Core HR</c:v>
                  </c:pt>
                  <c:pt idx="1">
                    <c:v>Time &amp; attendance</c:v>
                  </c:pt>
                  <c:pt idx="2">
                    <c:v>Payroll</c:v>
                  </c:pt>
                  <c:pt idx="3">
                    <c:v>Hiring</c:v>
                  </c:pt>
                  <c:pt idx="4">
                    <c:v>Communication</c:v>
                  </c:pt>
                  <c:pt idx="5">
                    <c:v>AI assistant</c:v>
                  </c:pt>
                  <c:pt idx="6">
                    <c:v>Documents (DMS)</c:v>
                  </c:pt>
                  <c:pt idx="7">
                    <c:v>Transport (TMS)</c:v>
                  </c:pt>
                  <c:pt idx="8">
                    <c:v>Other new modules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1</c:v>
                </c:pt>
                <c:pt idx="8">
                  <c:v>7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today: show what the product does, how far it is built, what is still missing, and what we need to decide to launch in Bangladesh.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Percentages count features in the tracker: 50 live, 5 built and waiting to deploy (transport steps 1–5), 20 not started (75 in total).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live = the area is live with a few items left (devices, scheduled jobs; hours compliance and grievances in payroll). Assets, travel &amp; expense, reports and integrations are not started (slide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docs/FeatureTracker.md. A feature is one line in the tracker, so the bars count items, not effort.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login needs the SMS provider switched on in Supabase before launch (slide 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all six steps are live and tested on the server. A strong selling point for garment and export factories facing buyer audits.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all five steps are built and tested; they go live after deployment. Phase 2: GPS tracker devices and a live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selling to larger clients we still recommend an outside security test (slide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Excel import and billing are our suggestions: without them every new client needs manual data entry and manual invoicing.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recommendations to confirm with a lawyer and a tax adviser; none of them is done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ranges are suggestions for targeting, not market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a proposal; the pilot start depends on finishing the November test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product core is ready for a pilot; the remaining risk is on the business side, which these decisions address.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Title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Subtitle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Title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Olympus HRIS  ·  Board meeting  · 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Olympus HRIS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Project overview, what is left, and the plan to launch in Bangladesh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Board meeting  · 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product is mostly built; the business is not yet</a:t>
            </a:r>
            <a:endParaRPr lang="en-US" sz="3000" dirty="0"/>
          </a:p>
        </p:txBody>
      </p:sp>
      <p:sp>
        <p:nvSpPr>
          <p:cNvPr id="3" name="stat-0"/>
          <p:cNvSpPr/>
          <p:nvPr/>
        </p:nvSpPr>
        <p:spPr>
          <a:xfrm>
            <a:off x="54864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67%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of planned features are live on the server</a:t>
            </a:r>
            <a:endParaRPr lang="en-US" sz="1500" dirty="0"/>
          </a:p>
        </p:txBody>
      </p:sp>
      <p:sp>
        <p:nvSpPr>
          <p:cNvPr id="6" name="stat-1"/>
          <p:cNvSpPr/>
          <p:nvPr/>
        </p:nvSpPr>
        <p:spPr>
          <a:xfrm>
            <a:off x="429768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73%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are built, counting transport waiting to deploy</a:t>
            </a:r>
            <a:endParaRPr lang="en-US" sz="1500" dirty="0"/>
          </a:p>
        </p:txBody>
      </p:sp>
      <p:sp>
        <p:nvSpPr>
          <p:cNvPr id="9" name="stat-2"/>
          <p:cNvSpPr/>
          <p:nvPr/>
        </p:nvSpPr>
        <p:spPr>
          <a:xfrm>
            <a:off x="8046720" y="1325880"/>
            <a:ext cx="347472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463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20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377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features left, 7 of them are new modules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66160"/>
            <a:ext cx="11064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Core HR, attendance, payroll with Bangladesh tax / PF / gratuity, hiring, notices, helpdesk, the AI assistant and document management are live.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Transport (vehicles, drivers, trips, fuel, maintenance, costs) is built; deployment and testing come next.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To sell, we still need: a pilot with real companies, billing, legal and tax set-up, support, and a few product gaps closed.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Ask today: approve a 3–5 company pilot and the launch budget (slide 18).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 we solve for Bangladeshi employers</a:t>
            </a:r>
            <a:endParaRPr lang="en-US" sz="3000" dirty="0"/>
          </a:p>
        </p:txBody>
      </p:sp>
      <p:sp>
        <p:nvSpPr>
          <p:cNvPr id="3" name="pain-0"/>
          <p:cNvSpPr/>
          <p:nvPr/>
        </p:nvSpPr>
        <p:spPr>
          <a:xfrm>
            <a:off x="54864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ot-1"/>
          <p:cNvSpPr/>
          <p:nvPr/>
        </p:nvSpPr>
        <p:spPr>
          <a:xfrm>
            <a:off x="77724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72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Excel and paper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Attendance, leave and salary sheets are kept by hand; mistakes reach the payslip.</a:t>
            </a:r>
            <a:endParaRPr lang="en-US" sz="1400" dirty="0"/>
          </a:p>
        </p:txBody>
      </p:sp>
      <p:sp>
        <p:nvSpPr>
          <p:cNvPr id="8" name="pain-1"/>
          <p:cNvSpPr/>
          <p:nvPr/>
        </p:nvSpPr>
        <p:spPr>
          <a:xfrm>
            <a:off x="429768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-2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572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Changing law every budget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Income tax slabs, TDS, PF and gratuity rules change; small HR teams cannot keep up.</a:t>
            </a:r>
            <a:endParaRPr lang="en-US" sz="1400" dirty="0"/>
          </a:p>
        </p:txBody>
      </p:sp>
      <p:sp>
        <p:nvSpPr>
          <p:cNvPr id="13" name="pain-2"/>
          <p:cNvSpPr/>
          <p:nvPr/>
        </p:nvSpPr>
        <p:spPr>
          <a:xfrm>
            <a:off x="8046720" y="1371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-3"/>
          <p:cNvSpPr/>
          <p:nvPr/>
        </p:nvSpPr>
        <p:spPr>
          <a:xfrm>
            <a:off x="8275320" y="16002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0" y="157276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Buyer and ISO audits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2402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Factories must show licences, safety records and policies on demand, often scattered.</a:t>
            </a:r>
            <a:endParaRPr lang="en-US" sz="1400" dirty="0"/>
          </a:p>
        </p:txBody>
      </p:sp>
      <p:sp>
        <p:nvSpPr>
          <p:cNvPr id="18" name="pain-3"/>
          <p:cNvSpPr/>
          <p:nvPr/>
        </p:nvSpPr>
        <p:spPr>
          <a:xfrm>
            <a:off x="54864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dot-4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Expired licences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Trade, fire, boiler and factory licences lapse because nobody tracks the 30 June deadlines.</a:t>
            </a:r>
            <a:endParaRPr lang="en-US" sz="1400" dirty="0"/>
          </a:p>
        </p:txBody>
      </p:sp>
      <p:sp>
        <p:nvSpPr>
          <p:cNvPr id="23" name="pain-4"/>
          <p:cNvSpPr/>
          <p:nvPr/>
        </p:nvSpPr>
        <p:spPr>
          <a:xfrm>
            <a:off x="429768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dot-5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120640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Foreign tools do not fit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Global suites are priced in USD and do not know the Labour Act, Bangla payslips or local holidays.</a:t>
            </a:r>
            <a:endParaRPr lang="en-US" sz="1400" dirty="0"/>
          </a:p>
        </p:txBody>
      </p:sp>
      <p:sp>
        <p:nvSpPr>
          <p:cNvPr id="28" name="pain-5"/>
          <p:cNvSpPr/>
          <p:nvPr/>
        </p:nvSpPr>
        <p:spPr>
          <a:xfrm>
            <a:off x="8046720" y="374904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dot-6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869680" y="3950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Hiring on WhatsApp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6177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CVs, tests and interviews are not tracked; good candidates are lost.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One system, eight areas: what each one does today</a:t>
            </a:r>
            <a:endParaRPr lang="en-US" sz="3000" dirty="0"/>
          </a:p>
        </p:txBody>
      </p:sp>
      <p:sp>
        <p:nvSpPr>
          <p:cNvPr id="3" name="module-0"/>
          <p:cNvSpPr/>
          <p:nvPr/>
        </p:nvSpPr>
        <p:spPr>
          <a:xfrm>
            <a:off x="548640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Core HR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Company structure, employees, roles and field-level access, portal logins, audit trail</a:t>
            </a:r>
            <a:endParaRPr lang="en-US" sz="1200" dirty="0"/>
          </a:p>
        </p:txBody>
      </p:sp>
      <p:sp>
        <p:nvSpPr>
          <p:cNvPr id="6" name="chip-live"/>
          <p:cNvSpPr/>
          <p:nvPr/>
        </p:nvSpPr>
        <p:spPr>
          <a:xfrm>
            <a:off x="73152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</a:t>
            </a:r>
            <a:endParaRPr lang="en-US" sz="1100" dirty="0"/>
          </a:p>
        </p:txBody>
      </p:sp>
      <p:sp>
        <p:nvSpPr>
          <p:cNvPr id="8" name="module-1"/>
          <p:cNvSpPr/>
          <p:nvPr/>
        </p:nvSpPr>
        <p:spPr>
          <a:xfrm>
            <a:off x="3337560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Time &amp; attendance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Shifts, roster, web / GPS / QR check-in, leave, overtime, shift swaps</a:t>
            </a:r>
            <a:endParaRPr lang="en-US" sz="1200" dirty="0"/>
          </a:p>
        </p:txBody>
      </p:sp>
      <p:sp>
        <p:nvSpPr>
          <p:cNvPr id="11" name="chip-part"/>
          <p:cNvSpPr/>
          <p:nvPr/>
        </p:nvSpPr>
        <p:spPr>
          <a:xfrm>
            <a:off x="352044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Mostly live</a:t>
            </a:r>
            <a:endParaRPr lang="en-US" sz="1100" dirty="0"/>
          </a:p>
        </p:txBody>
      </p:sp>
      <p:sp>
        <p:nvSpPr>
          <p:cNvPr id="13" name="module-2"/>
          <p:cNvSpPr/>
          <p:nvPr/>
        </p:nvSpPr>
        <p:spPr>
          <a:xfrm>
            <a:off x="6126480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Payroll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Salary structure, increments, payroll runs, Bangla / English payslips, tax, PF, gratuity</a:t>
            </a:r>
            <a:endParaRPr lang="en-US" sz="1200" dirty="0"/>
          </a:p>
        </p:txBody>
      </p:sp>
      <p:sp>
        <p:nvSpPr>
          <p:cNvPr id="16" name="chip-part"/>
          <p:cNvSpPr/>
          <p:nvPr/>
        </p:nvSpPr>
        <p:spPr>
          <a:xfrm>
            <a:off x="630936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Mostly live</a:t>
            </a:r>
            <a:endParaRPr lang="en-US" sz="1100" dirty="0"/>
          </a:p>
        </p:txBody>
      </p:sp>
      <p:sp>
        <p:nvSpPr>
          <p:cNvPr id="18" name="module-3"/>
          <p:cNvSpPr/>
          <p:nvPr/>
        </p:nvSpPr>
        <p:spPr>
          <a:xfrm>
            <a:off x="8915400" y="13258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5087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Hiring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20116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Workforce plan, job posts, AI CV screening, tests, interviews, offers, joining</a:t>
            </a:r>
            <a:endParaRPr lang="en-US" sz="1200" dirty="0"/>
          </a:p>
        </p:txBody>
      </p:sp>
      <p:sp>
        <p:nvSpPr>
          <p:cNvPr id="21" name="chip-live"/>
          <p:cNvSpPr/>
          <p:nvPr/>
        </p:nvSpPr>
        <p:spPr>
          <a:xfrm>
            <a:off x="9098280" y="31546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31546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</a:t>
            </a:r>
            <a:endParaRPr lang="en-US" sz="1100" dirty="0"/>
          </a:p>
        </p:txBody>
      </p:sp>
      <p:sp>
        <p:nvSpPr>
          <p:cNvPr id="23" name="module-4"/>
          <p:cNvSpPr/>
          <p:nvPr/>
        </p:nvSpPr>
        <p:spPr>
          <a:xfrm>
            <a:off x="548640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Communication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526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Notices with read receipts, helpdesk with office-hours SLA, password requests</a:t>
            </a:r>
            <a:endParaRPr lang="en-US" sz="1200" dirty="0"/>
          </a:p>
        </p:txBody>
      </p:sp>
      <p:sp>
        <p:nvSpPr>
          <p:cNvPr id="26" name="chip-live"/>
          <p:cNvSpPr/>
          <p:nvPr/>
        </p:nvSpPr>
        <p:spPr>
          <a:xfrm>
            <a:off x="731520" y="5669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5669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</a:t>
            </a:r>
            <a:endParaRPr lang="en-US" sz="1100" dirty="0"/>
          </a:p>
        </p:txBody>
      </p:sp>
      <p:sp>
        <p:nvSpPr>
          <p:cNvPr id="28" name="module-5"/>
          <p:cNvSpPr/>
          <p:nvPr/>
        </p:nvSpPr>
        <p:spPr>
          <a:xfrm>
            <a:off x="3337560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AI assistant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3520440" y="4526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Answers from company policies and the app guide; never reads employee data</a:t>
            </a:r>
            <a:endParaRPr lang="en-US" sz="1200" dirty="0"/>
          </a:p>
        </p:txBody>
      </p:sp>
      <p:sp>
        <p:nvSpPr>
          <p:cNvPr id="31" name="chip-live"/>
          <p:cNvSpPr/>
          <p:nvPr/>
        </p:nvSpPr>
        <p:spPr>
          <a:xfrm>
            <a:off x="3520440" y="5669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20440" y="5669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</a:t>
            </a:r>
            <a:endParaRPr lang="en-US" sz="1100" dirty="0"/>
          </a:p>
        </p:txBody>
      </p:sp>
      <p:sp>
        <p:nvSpPr>
          <p:cNvPr id="33" name="module-6"/>
          <p:cNvSpPr/>
          <p:nvPr/>
        </p:nvSpPr>
        <p:spPr>
          <a:xfrm>
            <a:off x="6126480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Documents (DMS)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4526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Licences with expiry alerts, review and approval, ISO checklist, retention</a:t>
            </a:r>
            <a:endParaRPr lang="en-US" sz="1200" dirty="0"/>
          </a:p>
        </p:txBody>
      </p:sp>
      <p:sp>
        <p:nvSpPr>
          <p:cNvPr id="36" name="chip-live"/>
          <p:cNvSpPr/>
          <p:nvPr/>
        </p:nvSpPr>
        <p:spPr>
          <a:xfrm>
            <a:off x="6309360" y="5669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09360" y="5669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Live</a:t>
            </a:r>
            <a:endParaRPr lang="en-US" sz="1100" dirty="0"/>
          </a:p>
        </p:txBody>
      </p:sp>
      <p:sp>
        <p:nvSpPr>
          <p:cNvPr id="38" name="module-7"/>
          <p:cNvSpPr/>
          <p:nvPr/>
        </p:nvSpPr>
        <p:spPr>
          <a:xfrm>
            <a:off x="8915400" y="3840480"/>
            <a:ext cx="260604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098280" y="40233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Transport (TMS)</a:t>
            </a:r>
            <a:endParaRPr lang="en-US" sz="1700" dirty="0"/>
          </a:p>
        </p:txBody>
      </p:sp>
      <p:sp>
        <p:nvSpPr>
          <p:cNvPr id="40" name="Text 38"/>
          <p:cNvSpPr txBox="1"/>
          <p:nvPr/>
        </p:nvSpPr>
        <p:spPr>
          <a:xfrm>
            <a:off x="9098280" y="4526280"/>
            <a:ext cx="2240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Vehicles, drivers, trips with GPS points, fuel with fraud flags, maintenance, cost per km</a:t>
            </a:r>
            <a:endParaRPr lang="en-US" sz="1200" dirty="0"/>
          </a:p>
        </p:txBody>
      </p:sp>
      <p:sp>
        <p:nvSpPr>
          <p:cNvPr id="41" name="chip-built"/>
          <p:cNvSpPr/>
          <p:nvPr/>
        </p:nvSpPr>
        <p:spPr>
          <a:xfrm>
            <a:off x="9098280" y="5669280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098280" y="566928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Built, to deploy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Progress by area: 50 of 75 features live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768096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progress-notes"/>
          <p:cNvSpPr/>
          <p:nvPr/>
        </p:nvSpPr>
        <p:spPr>
          <a:xfrm>
            <a:off x="8503920" y="1325880"/>
            <a:ext cx="3108960" cy="47548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3252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to read it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732520" y="1965960"/>
            <a:ext cx="27432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Live: on the production database and tested.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Built, to deploy: code and tests done; waiting to be applied and tested in the browser.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Not started: designed in the plan, no code yet.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Engineering base: 50 database steps, 34 automated database test suites, 196 unit tests.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Built for Bangladesh, not translated for it</a:t>
            </a:r>
            <a:endParaRPr lang="en-US" sz="3000" dirty="0"/>
          </a:p>
        </p:txBody>
      </p:sp>
      <p:sp>
        <p:nvSpPr>
          <p:cNvPr id="3" name="dot-1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417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Labour law regimes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Weekly off, leave and overtime rules per law; values confirmed by the company before use.</a:t>
            </a:r>
            <a:endParaRPr lang="en-US" sz="1400" dirty="0"/>
          </a:p>
        </p:txBody>
      </p:sp>
      <p:sp>
        <p:nvSpPr>
          <p:cNvPr id="7" name="dot-2"/>
          <p:cNvSpPr/>
          <p:nvPr/>
        </p:nvSpPr>
        <p:spPr>
          <a:xfrm>
            <a:off x="6172200" y="14630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72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1417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Tax, TDS, PF, gratuity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18745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Income tax slabs and TDS ledger, PF interest and withdrawal, gratuity liability.</a:t>
            </a:r>
            <a:endParaRPr lang="en-US" sz="1400" dirty="0"/>
          </a:p>
        </p:txBody>
      </p:sp>
      <p:sp>
        <p:nvSpPr>
          <p:cNvPr id="11" name="dot-3"/>
          <p:cNvSpPr/>
          <p:nvPr/>
        </p:nvSpPr>
        <p:spPr>
          <a:xfrm>
            <a:off x="5486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Bangla where it matters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Payslips, notices and the assistant in বাংলা and English.</a:t>
            </a:r>
            <a:endParaRPr lang="en-US" sz="1400" dirty="0"/>
          </a:p>
        </p:txBody>
      </p:sp>
      <p:sp>
        <p:nvSpPr>
          <p:cNvPr id="15" name="dot-4"/>
          <p:cNvSpPr/>
          <p:nvPr/>
        </p:nvSpPr>
        <p:spPr>
          <a:xfrm>
            <a:off x="617220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0175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30 June fiscal year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4747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Trade licence and IRC / ERC expiries default to 30 June; renewals are tracked.</a:t>
            </a:r>
            <a:endParaRPr lang="en-US" sz="1400" dirty="0"/>
          </a:p>
        </p:txBody>
      </p:sp>
      <p:sp>
        <p:nvSpPr>
          <p:cNvPr id="19" name="dot-5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Local working week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Friday off, company holidays and office hours count in every deadline and SLA.</a:t>
            </a:r>
            <a:endParaRPr lang="en-US" sz="1400" dirty="0"/>
          </a:p>
        </p:txBody>
      </p:sp>
      <p:sp>
        <p:nvSpPr>
          <p:cNvPr id="23" name="dot-6"/>
          <p:cNvSpPr/>
          <p:nvPr/>
        </p:nvSpPr>
        <p:spPr>
          <a:xfrm>
            <a:off x="6172200" y="4663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617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Mobile number login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50749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Staff without email sign in with a Bangladeshi mobile number.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People, time and pay: the daily core</a:t>
            </a:r>
            <a:endParaRPr lang="en-US" sz="3000" dirty="0"/>
          </a:p>
        </p:txBody>
      </p:sp>
      <p:sp>
        <p:nvSpPr>
          <p:cNvPr id="3" name="core-0"/>
          <p:cNvSpPr/>
          <p:nvPr/>
        </p:nvSpPr>
        <p:spPr>
          <a:xfrm>
            <a:off x="548640" y="13258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Core HR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Branches, offices, departments, grades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Employee profile, history, reporting lines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Role permissions down to single fields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ID cards, photos, signatures, NID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change in an audit trail</a:t>
            </a:r>
            <a:endParaRPr lang="en-US" sz="1400" dirty="0"/>
          </a:p>
        </p:txBody>
      </p:sp>
      <p:sp>
        <p:nvSpPr>
          <p:cNvPr id="6" name="core-1"/>
          <p:cNvSpPr/>
          <p:nvPr/>
        </p:nvSpPr>
        <p:spPr>
          <a:xfrm>
            <a:off x="4297680" y="13258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Time &amp; leave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031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Shifts incl. night, roster, swaps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Check-in by web, GPS fence or office QR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Late, half day, overtime worked out daily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Leave balances, approval, rollover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Month lock before payroll</a:t>
            </a:r>
            <a:endParaRPr lang="en-US" sz="1400" dirty="0"/>
          </a:p>
        </p:txBody>
      </p:sp>
      <p:sp>
        <p:nvSpPr>
          <p:cNvPr id="9" name="core-2"/>
          <p:cNvSpPr/>
          <p:nvPr/>
        </p:nvSpPr>
        <p:spPr>
          <a:xfrm>
            <a:off x="8046720" y="1325880"/>
            <a:ext cx="3474720" cy="429768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Payroll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103120"/>
            <a:ext cx="29718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Salary templates and components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Increments with arrears, bonuses, loans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→ review → approve (maker-checker)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Bank / cash payment sheets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Tax, TDS, PF, gratuity ledgers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Hiring: from a vacancy to a joined employee</a:t>
            </a:r>
            <a:endParaRPr lang="en-US" sz="3000" dirty="0"/>
          </a:p>
        </p:txBody>
      </p:sp>
      <p:sp>
        <p:nvSpPr>
          <p:cNvPr id="3" name="hire-step-0"/>
          <p:cNvSpPr/>
          <p:nvPr/>
        </p:nvSpPr>
        <p:spPr>
          <a:xfrm>
            <a:off x="548640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Plan headcount</a:t>
            </a:r>
            <a:endParaRPr lang="en-US" sz="1400" dirty="0"/>
          </a:p>
        </p:txBody>
      </p:sp>
      <p:sp>
        <p:nvSpPr>
          <p:cNvPr id="6" name="hire-step-1"/>
          <p:cNvSpPr/>
          <p:nvPr/>
        </p:nvSpPr>
        <p:spPr>
          <a:xfrm>
            <a:off x="2139696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76856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276856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Approve vacancy</a:t>
            </a:r>
            <a:endParaRPr lang="en-US" sz="1400" dirty="0"/>
          </a:p>
        </p:txBody>
      </p:sp>
      <p:sp>
        <p:nvSpPr>
          <p:cNvPr id="9" name="hire-step-2"/>
          <p:cNvSpPr/>
          <p:nvPr/>
        </p:nvSpPr>
        <p:spPr>
          <a:xfrm>
            <a:off x="3730752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67912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 job</a:t>
            </a:r>
            <a:endParaRPr lang="en-US" sz="1400" dirty="0"/>
          </a:p>
        </p:txBody>
      </p:sp>
      <p:sp>
        <p:nvSpPr>
          <p:cNvPr id="12" name="hire-step-3"/>
          <p:cNvSpPr/>
          <p:nvPr/>
        </p:nvSpPr>
        <p:spPr>
          <a:xfrm>
            <a:off x="5321808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58968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58968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Screen CVs with AI</a:t>
            </a:r>
            <a:endParaRPr lang="en-US" sz="1400" dirty="0"/>
          </a:p>
        </p:txBody>
      </p:sp>
      <p:sp>
        <p:nvSpPr>
          <p:cNvPr id="15" name="hire-step-4"/>
          <p:cNvSpPr/>
          <p:nvPr/>
        </p:nvSpPr>
        <p:spPr>
          <a:xfrm>
            <a:off x="6912864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50024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50024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Test &amp; interview</a:t>
            </a:r>
            <a:endParaRPr lang="en-US" sz="1400" dirty="0"/>
          </a:p>
        </p:txBody>
      </p:sp>
      <p:sp>
        <p:nvSpPr>
          <p:cNvPr id="18" name="hire-step-5"/>
          <p:cNvSpPr/>
          <p:nvPr/>
        </p:nvSpPr>
        <p:spPr>
          <a:xfrm>
            <a:off x="8503920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41080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41080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Offer</a:t>
            </a:r>
            <a:endParaRPr lang="en-US" sz="1400" dirty="0"/>
          </a:p>
        </p:txBody>
      </p:sp>
      <p:sp>
        <p:nvSpPr>
          <p:cNvPr id="21" name="hire-step-6"/>
          <p:cNvSpPr/>
          <p:nvPr/>
        </p:nvSpPr>
        <p:spPr>
          <a:xfrm>
            <a:off x="10094976" y="1463040"/>
            <a:ext cx="1481328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232136" y="1554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232136" y="1874520"/>
            <a:ext cx="1207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Join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017520"/>
            <a:ext cx="11064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Workforce planning per department and a vacancy approval flow before any job is posted.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Public careers page with a QR poster; candidates apply without an account.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AI reads CVs with the company's own key and scores them; HR always decides.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Online written tests, interview scheduling, interviewer score sheets, email / SMS messages.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Offer letters, pre-joining forms, document checks, then one click makes the employee record.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Communication and the AI assistant</a:t>
            </a:r>
            <a:endParaRPr lang="en-US" sz="3000" dirty="0"/>
          </a:p>
        </p:txBody>
      </p:sp>
      <p:sp>
        <p:nvSpPr>
          <p:cNvPr id="3" name="comm-card"/>
          <p:cNvSpPr/>
          <p:nvPr/>
        </p:nvSpPr>
        <p:spPr>
          <a:xfrm>
            <a:off x="548640" y="132588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Communication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Notices to all, a department, a branch or chosen people, in Bangla and English, with email copy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 receipts and "I have read and agree" acknowledgements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Helpdesk tickets routed by category, SLA counted in office hours, rating and auto-close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"Forgot password? Ask HR" for staff without email</a:t>
            </a:r>
            <a:endParaRPr lang="en-US" sz="1400" dirty="0"/>
          </a:p>
        </p:txBody>
      </p:sp>
      <p:sp>
        <p:nvSpPr>
          <p:cNvPr id="6" name="ai-card"/>
          <p:cNvSpPr/>
          <p:nvPr/>
        </p:nvSpPr>
        <p:spPr>
          <a:xfrm>
            <a:off x="6172200" y="1325880"/>
            <a:ext cx="54406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AI assistant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Answers "how do I…" questions and points to the right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Answers policy questions from the company's own documents, with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reads the employee database; each role sees only what Admin allows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company uses its own API key (Claude, OpenAI or Gemini) and pays its own usage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test with a real key is still pending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Documents: licences, approvals and ISO evidence</a:t>
            </a:r>
            <a:endParaRPr lang="en-US" sz="3000" dirty="0"/>
          </a:p>
        </p:txBody>
      </p:sp>
      <p:sp>
        <p:nvSpPr>
          <p:cNvPr id="3" name="dms-0"/>
          <p:cNvSpPr/>
          <p:nvPr/>
        </p:nvSpPr>
        <p:spPr>
          <a:xfrm>
            <a:off x="54864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Upload once, named by the system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HR-POL-0012_v3: department, type, number, version. No duplicate files, full version history.</a:t>
            </a:r>
            <a:endParaRPr lang="en-US" sz="1300" dirty="0"/>
          </a:p>
        </p:txBody>
      </p:sp>
      <p:sp>
        <p:nvSpPr>
          <p:cNvPr id="6" name="dms-1"/>
          <p:cNvSpPr/>
          <p:nvPr/>
        </p:nvSpPr>
        <p:spPr>
          <a:xfrm>
            <a:off x="429768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Licence expiry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Days left for every licence; reminders at 60, 30 and 7 days; a renewal task to the person responsible.</a:t>
            </a:r>
            <a:endParaRPr lang="en-US" sz="1300" dirty="0"/>
          </a:p>
        </p:txBody>
      </p:sp>
      <p:sp>
        <p:nvSpPr>
          <p:cNvPr id="9" name="dms-2"/>
          <p:cNvSpPr/>
          <p:nvPr/>
        </p:nvSpPr>
        <p:spPr>
          <a:xfrm>
            <a:off x="804672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 before publish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Uploads wait for Admin or manager approval; overdue reviews are flagged, never auto-approved.</a:t>
            </a:r>
            <a:endParaRPr lang="en-US" sz="1300" dirty="0"/>
          </a:p>
        </p:txBody>
      </p:sp>
      <p:sp>
        <p:nvSpPr>
          <p:cNvPr id="12" name="dms-3"/>
          <p:cNvSpPr/>
          <p:nvPr/>
        </p:nvSpPr>
        <p:spPr>
          <a:xfrm>
            <a:off x="54864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ISO checklist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ISO 9001, 27001, 14001, 45001 and more: which clause has evidence and which is a gap.</a:t>
            </a:r>
            <a:endParaRPr lang="en-US" sz="1300" dirty="0"/>
          </a:p>
        </p:txBody>
      </p:sp>
      <p:sp>
        <p:nvSpPr>
          <p:cNvPr id="15" name="dms-4"/>
          <p:cNvSpPr/>
          <p:nvPr/>
        </p:nvSpPr>
        <p:spPr>
          <a:xfrm>
            <a:off x="429768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Retention and disposal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Keep-for rules per type, legal hold, two-person disposal with proof.</a:t>
            </a:r>
            <a:endParaRPr lang="en-US" sz="1300" dirty="0"/>
          </a:p>
        </p:txBody>
      </p:sp>
      <p:sp>
        <p:nvSpPr>
          <p:cNvPr id="18" name="dms-5"/>
          <p:cNvSpPr/>
          <p:nvPr/>
        </p:nvSpPr>
        <p:spPr>
          <a:xfrm>
            <a:off x="804672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Feeds the AI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Approved company-wide policies answer staff questions; confidential files never leave.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Transport: vehicles, drivers, fuel and cost per km</a:t>
            </a:r>
            <a:endParaRPr lang="en-US" sz="3000" dirty="0"/>
          </a:p>
        </p:txBody>
      </p:sp>
      <p:sp>
        <p:nvSpPr>
          <p:cNvPr id="3" name="tms-0"/>
          <p:cNvSpPr/>
          <p:nvPr/>
        </p:nvSpPr>
        <p:spPr>
          <a:xfrm>
            <a:off x="54864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Vehicles and papers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BRTA registration, fitness, tax token, route permit and insurance in the document library, with expiry alerts.</a:t>
            </a:r>
            <a:endParaRPr lang="en-US" sz="1300" dirty="0"/>
          </a:p>
        </p:txBody>
      </p:sp>
      <p:sp>
        <p:nvSpPr>
          <p:cNvPr id="6" name="tms-1"/>
          <p:cNvSpPr/>
          <p:nvPr/>
        </p:nvSpPr>
        <p:spPr>
          <a:xfrm>
            <a:off x="429768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Drivers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Employees or outside drivers; licence class checked against the vehicle; expired licences flagged.</a:t>
            </a:r>
            <a:endParaRPr lang="en-US" sz="1300" dirty="0"/>
          </a:p>
        </p:txBody>
      </p:sp>
      <p:sp>
        <p:nvSpPr>
          <p:cNvPr id="9" name="tms-2"/>
          <p:cNvSpPr/>
          <p:nvPr/>
        </p:nvSpPr>
        <p:spPr>
          <a:xfrm>
            <a:off x="8046720" y="132588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508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Trips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945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Staff request a vehicle, the manager approves, the desk assigns; no double booking.</a:t>
            </a:r>
            <a:endParaRPr lang="en-US" sz="1300" dirty="0"/>
          </a:p>
        </p:txBody>
      </p:sp>
      <p:sp>
        <p:nvSpPr>
          <p:cNvPr id="12" name="tms-3"/>
          <p:cNvSpPr/>
          <p:nvPr/>
        </p:nvSpPr>
        <p:spPr>
          <a:xfrm>
            <a:off x="54864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Location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driver's phone records odometer and GPS at start, end and each fuel fill; never in the background.</a:t>
            </a:r>
            <a:endParaRPr lang="en-US" sz="1300" dirty="0"/>
          </a:p>
        </p:txBody>
      </p:sp>
      <p:sp>
        <p:nvSpPr>
          <p:cNvPr id="15" name="tms-4"/>
          <p:cNvSpPr/>
          <p:nvPr/>
        </p:nvSpPr>
        <p:spPr>
          <a:xfrm>
            <a:off x="429768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Fuel fraud checks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Octane, diesel, CNG (m³): more than the tank holds, odometer going back, wrong price, low km per litre.</a:t>
            </a:r>
            <a:endParaRPr lang="en-US" sz="1300" dirty="0"/>
          </a:p>
        </p:txBody>
      </p:sp>
      <p:sp>
        <p:nvSpPr>
          <p:cNvPr id="18" name="tms-5"/>
          <p:cNvSpPr/>
          <p:nvPr/>
        </p:nvSpPr>
        <p:spPr>
          <a:xfrm>
            <a:off x="8046720" y="3657600"/>
            <a:ext cx="34747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Maintenance and cost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5262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Service by km or months, job cards, parts and tyre stock; cost per vehicle and per km.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and reliability: what a client will ask us</a:t>
            </a:r>
            <a:endParaRPr lang="en-US" sz="3000" dirty="0"/>
          </a:p>
        </p:txBody>
      </p:sp>
      <p:sp>
        <p:nvSpPr>
          <p:cNvPr id="3" name="dot-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71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Each company is sealed off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28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record carries its company; the database itself refuses cross-company access.</a:t>
            </a:r>
            <a:endParaRPr lang="en-US" sz="1400" dirty="0"/>
          </a:p>
        </p:txBody>
      </p:sp>
      <p:sp>
        <p:nvSpPr>
          <p:cNvPr id="7" name="dot-2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Least access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429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Permissions per role and per field; salary and NID hidden unless allowed.</a:t>
            </a:r>
            <a:endParaRPr lang="en-US" sz="1400" dirty="0"/>
          </a:p>
        </p:txBody>
      </p:sp>
      <p:sp>
        <p:nvSpPr>
          <p:cNvPr id="11" name="dot-3"/>
          <p:cNvSpPr/>
          <p:nvPr/>
        </p:nvSpPr>
        <p:spPr>
          <a:xfrm>
            <a:off x="548640" y="46177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572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Nothing is silently lost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hard deletes; every change is in an audit trail.</a:t>
            </a:r>
            <a:endParaRPr lang="en-US" sz="1400" dirty="0"/>
          </a:p>
        </p:txBody>
      </p:sp>
      <p:sp>
        <p:nvSpPr>
          <p:cNvPr id="15" name="dot-4"/>
          <p:cNvSpPr/>
          <p:nvPr/>
        </p:nvSpPr>
        <p:spPr>
          <a:xfrm>
            <a:off x="6172200" y="14173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371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Money needs two people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828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Payroll, increments and disposals need a second person to approve.</a:t>
            </a:r>
            <a:endParaRPr lang="en-US" sz="1400" dirty="0"/>
          </a:p>
        </p:txBody>
      </p:sp>
      <p:sp>
        <p:nvSpPr>
          <p:cNvPr id="19" name="dot-5"/>
          <p:cNvSpPr/>
          <p:nvPr/>
        </p:nvSpPr>
        <p:spPr>
          <a:xfrm>
            <a:off x="6172200" y="30175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1722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971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Secrets stay secret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3429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API keys stored encrypted; only the last 4 characters are ever shown.</a:t>
            </a:r>
            <a:endParaRPr lang="en-US" sz="1400" dirty="0"/>
          </a:p>
        </p:txBody>
      </p:sp>
      <p:sp>
        <p:nvSpPr>
          <p:cNvPr id="23" name="dot-6"/>
          <p:cNvSpPr/>
          <p:nvPr/>
        </p:nvSpPr>
        <p:spPr>
          <a:xfrm>
            <a:off x="6172200" y="4617720"/>
            <a:ext cx="457200" cy="4572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7220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45720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Tested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34 automated database test suites and 196 unit tests run on every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Product work left, in priority order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0350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When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What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State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pilot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Deploy and browser-test Transport (TMS) steps 1–5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Built; deploy and test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5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pilot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Live test of the AI assistant with a paid API key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Needs a key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Account lockout, SMS provider for mobile login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Supabase settings + SMS vendor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Scheduled jobs: daily attendance close, leave rollover, reminders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Turn on the scheduler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Bulk import of employees from Excel (suggested)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started; speeds onboarding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Before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Subscription billing and online payment (suggested)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started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After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Biometric devices, mobile app with live tracking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started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After launch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Hours compliance, grievances, committees; employer cost report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started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Later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Assets, travel &amp; expense, reports, integrations; GPS devices and live map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2"/>
                          </a:solidFill>
                          <a:latin typeface="+mn-lt" pitchFamily="34" charset="0"/>
                          <a:ea typeface="+mn-lt" pitchFamily="34" charset="-122"/>
                          <a:cs typeface="+mn-lt" pitchFamily="34" charset="-120"/>
                        </a:rPr>
                        <a:t>Not started</a:t>
                      </a:r>
                      <a:endParaRPr lang="en-US" sz="1300" dirty="0">
                        <a:latin typeface="+mn-lt" charset="0"/>
                        <a:ea typeface="+mn-lt" charset="0"/>
                        <a:cs typeface="+mn-lt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Business readiness: what we need before we can sell</a:t>
            </a:r>
            <a:endParaRPr lang="en-US" sz="3000" dirty="0"/>
          </a:p>
        </p:txBody>
      </p:sp>
      <p:sp>
        <p:nvSpPr>
          <p:cNvPr id="3" name="ready-0"/>
          <p:cNvSpPr/>
          <p:nvPr/>
        </p:nvSpPr>
        <p:spPr>
          <a:xfrm>
            <a:off x="548640" y="12801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Legal &amp; tax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Company and trade licence for a software business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TIN, BIN / VAT registration; confirm VAT on SaaS with a tax adviser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Client contract, privacy policy, data processing terms</a:t>
            </a:r>
            <a:endParaRPr lang="en-US" sz="1400" dirty="0"/>
          </a:p>
        </p:txBody>
      </p:sp>
      <p:sp>
        <p:nvSpPr>
          <p:cNvPr id="6" name="ready-1"/>
          <p:cNvSpPr/>
          <p:nvPr/>
        </p:nvSpPr>
        <p:spPr>
          <a:xfrm>
            <a:off x="4297680" y="12801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Law content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8745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Labour-law expert checks leave, overtime and gratuity values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Tax adviser checks slabs and TDS each budget (July)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 yearly update routine for rule changes</a:t>
            </a:r>
            <a:endParaRPr lang="en-US" sz="1400" dirty="0"/>
          </a:p>
        </p:txBody>
      </p:sp>
      <p:sp>
        <p:nvSpPr>
          <p:cNvPr id="9" name="ready-2"/>
          <p:cNvSpPr/>
          <p:nvPr/>
        </p:nvSpPr>
        <p:spPr>
          <a:xfrm>
            <a:off x="8046720" y="12801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Data &amp; security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8745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Decide hosting region and tell clients where data lives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Backups with a tested restore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Outside security test before large clients</a:t>
            </a:r>
            <a:endParaRPr lang="en-US" sz="1400" dirty="0"/>
          </a:p>
        </p:txBody>
      </p:sp>
      <p:sp>
        <p:nvSpPr>
          <p:cNvPr id="12" name="ready-3"/>
          <p:cNvSpPr/>
          <p:nvPr/>
        </p:nvSpPr>
        <p:spPr>
          <a:xfrm>
            <a:off x="548640" y="37947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Payments &amp; billing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89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Collect by bank, bKash / Nagad or a payment gateway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VAT-compliant invoices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Payroll bank files for local banks</a:t>
            </a:r>
            <a:endParaRPr lang="en-US" sz="1400" dirty="0"/>
          </a:p>
        </p:txBody>
      </p:sp>
      <p:sp>
        <p:nvSpPr>
          <p:cNvPr id="15" name="ready-4"/>
          <p:cNvSpPr/>
          <p:nvPr/>
        </p:nvSpPr>
        <p:spPr>
          <a:xfrm>
            <a:off x="4297680" y="37947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Support &amp; onboarding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389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Bangla-speaking support line and ticket hours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Onboarding service: structure, data import,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Help guide and short videos</a:t>
            </a:r>
            <a:endParaRPr lang="en-US" sz="1400" dirty="0"/>
          </a:p>
        </p:txBody>
      </p:sp>
      <p:sp>
        <p:nvSpPr>
          <p:cNvPr id="18" name="ready-5"/>
          <p:cNvSpPr/>
          <p:nvPr/>
        </p:nvSpPr>
        <p:spPr>
          <a:xfrm>
            <a:off x="8046720" y="3794760"/>
            <a:ext cx="347472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Sales &amp; marketing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43891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Pilot case studies from 3–5 companies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Price list in BDT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Partner channel: HR consultants, accountants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Suggested go-to-market for Bangladesh</a:t>
            </a:r>
            <a:endParaRPr lang="en-US" sz="3000" dirty="0"/>
          </a:p>
        </p:txBody>
      </p:sp>
      <p:sp>
        <p:nvSpPr>
          <p:cNvPr id="3" name="gtm-segments"/>
          <p:cNvSpPr/>
          <p:nvPr/>
        </p:nvSpPr>
        <p:spPr>
          <a:xfrm>
            <a:off x="548640" y="132588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Who to sell to first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Garment and export factories (200–3,000 staff): payroll, attendance, licences, buyer audits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Mid-size companies (50–500 staff) in Dhaka and Chattogram moving off Excel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IT and service firms that want hiring, documents and ISO 27001 evidence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Companies with vehicle fleets: papers, fuel control and cost per km</a:t>
            </a:r>
            <a:endParaRPr lang="en-US" sz="1400" dirty="0"/>
          </a:p>
        </p:txBody>
      </p:sp>
      <p:sp>
        <p:nvSpPr>
          <p:cNvPr id="6" name="gtm-pricing"/>
          <p:cNvSpPr/>
          <p:nvPr/>
        </p:nvSpPr>
        <p:spPr>
          <a:xfrm>
            <a:off x="6172200" y="1325880"/>
            <a:ext cx="544068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How to price and sell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03120"/>
            <a:ext cx="4937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Price per active employee per month, in BDT, with a minimum per company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Plans already in the product: Trial, Basic, Pro, Enterprise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Free trial, then a discount for yearly payment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Paid onboarding package for data import and 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Set the final prices after the pilot, from what pilot companies will pay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Roadmap to a paid launch</a:t>
            </a:r>
            <a:endParaRPr lang="en-US" sz="3000" dirty="0"/>
          </a:p>
        </p:txBody>
      </p:sp>
      <p:sp>
        <p:nvSpPr>
          <p:cNvPr id="3" name="phase-0"/>
          <p:cNvSpPr/>
          <p:nvPr/>
        </p:nvSpPr>
        <p:spPr>
          <a:xfrm>
            <a:off x="548640" y="13716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Nov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Finish and test</a:t>
            </a:r>
            <a:endParaRPr lang="en-US" sz="2000" dirty="0"/>
          </a:p>
        </p:txBody>
      </p:sp>
      <p:sp>
        <p:nvSpPr>
          <p:cNvPr id="6" name="phase-card-0"/>
          <p:cNvSpPr/>
          <p:nvPr/>
        </p:nvSpPr>
        <p:spPr>
          <a:xfrm>
            <a:off x="548640" y="25603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7432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Deploy transport steps 1–5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Full test round, fix issues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test with a paid key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Lockout, SMS, scheduler</a:t>
            </a:r>
            <a:endParaRPr lang="en-US" sz="1400" dirty="0"/>
          </a:p>
        </p:txBody>
      </p:sp>
      <p:sp>
        <p:nvSpPr>
          <p:cNvPr id="8" name="phase-1"/>
          <p:cNvSpPr/>
          <p:nvPr/>
        </p:nvSpPr>
        <p:spPr>
          <a:xfrm>
            <a:off x="3337560" y="13716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Dec 2026 – Jan 2027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Pilot</a:t>
            </a:r>
            <a:endParaRPr lang="en-US" sz="2000" dirty="0"/>
          </a:p>
        </p:txBody>
      </p:sp>
      <p:sp>
        <p:nvSpPr>
          <p:cNvPr id="11" name="phase-card-1"/>
          <p:cNvSpPr/>
          <p:nvPr/>
        </p:nvSpPr>
        <p:spPr>
          <a:xfrm>
            <a:off x="3337560" y="25603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27432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3–5 companies, at least one factory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Excel import, billing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Legal, tax and support set-up</a:t>
            </a:r>
            <a:endParaRPr lang="en-US" sz="1400" dirty="0"/>
          </a:p>
        </p:txBody>
      </p:sp>
      <p:sp>
        <p:nvSpPr>
          <p:cNvPr id="13" name="phase-2"/>
          <p:cNvSpPr/>
          <p:nvPr/>
        </p:nvSpPr>
        <p:spPr>
          <a:xfrm>
            <a:off x="6126480" y="13716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Feb – Mar 2027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Paid launch</a:t>
            </a:r>
            <a:endParaRPr lang="en-US" sz="2000" dirty="0"/>
          </a:p>
        </p:txBody>
      </p:sp>
      <p:sp>
        <p:nvSpPr>
          <p:cNvPr id="16" name="phase-card-2"/>
          <p:cNvSpPr/>
          <p:nvPr/>
        </p:nvSpPr>
        <p:spPr>
          <a:xfrm>
            <a:off x="6126480" y="25603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27432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Prices from the pilot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Case studies, partners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Support hours and help guide</a:t>
            </a:r>
            <a:endParaRPr lang="en-US" sz="1400" dirty="0"/>
          </a:p>
        </p:txBody>
      </p:sp>
      <p:sp>
        <p:nvSpPr>
          <p:cNvPr id="18" name="phase-3"/>
          <p:cNvSpPr/>
          <p:nvPr/>
        </p:nvSpPr>
        <p:spPr>
          <a:xfrm>
            <a:off x="8915400" y="1371600"/>
            <a:ext cx="2606040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9828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Apr – Jun 2027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Grow</a:t>
            </a:r>
            <a:endParaRPr lang="en-US" sz="2000" dirty="0"/>
          </a:p>
        </p:txBody>
      </p:sp>
      <p:sp>
        <p:nvSpPr>
          <p:cNvPr id="21" name="phase-card-3"/>
          <p:cNvSpPr/>
          <p:nvPr/>
        </p:nvSpPr>
        <p:spPr>
          <a:xfrm>
            <a:off x="8915400" y="2560320"/>
            <a:ext cx="260604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98280" y="274320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Biometric devices, mobile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Reports, compliance, grievances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Budget-season tax update (July)</a:t>
            </a:r>
            <a:endParaRPr lang="en-US" sz="1400" dirty="0"/>
          </a:p>
        </p:txBody>
      </p:sp>
      <p:sp>
        <p:nvSpPr>
          <p:cNvPr id="23" name="pilot-exit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212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Suggested pilot exit criteria: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pilot company runs at least one real payroll and one month of attendance; no critical bug open for two weeks; each gives written feedback on the price.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Main risks and how we handle them</a:t>
            </a:r>
            <a:endParaRPr lang="en-US" sz="3000" dirty="0"/>
          </a:p>
        </p:txBody>
      </p:sp>
      <p:sp>
        <p:nvSpPr>
          <p:cNvPr id="3" name="risk-0"/>
          <p:cNvSpPr/>
          <p:nvPr/>
        </p:nvSpPr>
        <p:spPr>
          <a:xfrm>
            <a:off x="548640" y="1325880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Wrong legal or tax values in payroll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46304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Expert review before launch; the company confirms values before they apply; yearly update routine</a:t>
            </a:r>
            <a:endParaRPr lang="en-US" sz="1400" dirty="0"/>
          </a:p>
        </p:txBody>
      </p:sp>
      <p:sp>
        <p:nvSpPr>
          <p:cNvPr id="6" name="risk-1"/>
          <p:cNvSpPr/>
          <p:nvPr/>
        </p:nvSpPr>
        <p:spPr>
          <a:xfrm>
            <a:off x="548640" y="2295144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323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protection rules tighten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432304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Clear hosting disclosure, data processing terms, audit trail and access controls already in place</a:t>
            </a:r>
            <a:endParaRPr lang="en-US" sz="1400" dirty="0"/>
          </a:p>
        </p:txBody>
      </p:sp>
      <p:sp>
        <p:nvSpPr>
          <p:cNvPr id="9" name="risk-2"/>
          <p:cNvSpPr/>
          <p:nvPr/>
        </p:nvSpPr>
        <p:spPr>
          <a:xfrm>
            <a:off x="548640" y="3264408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4015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Slow adoption: HR teams used to Excel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340156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Excel import, onboarding service, Bangla support, a factory pilot as proof</a:t>
            </a:r>
            <a:endParaRPr lang="en-US" sz="1400" dirty="0"/>
          </a:p>
        </p:txBody>
      </p:sp>
      <p:sp>
        <p:nvSpPr>
          <p:cNvPr id="12" name="risk-3"/>
          <p:cNvSpPr/>
          <p:nvPr/>
        </p:nvSpPr>
        <p:spPr>
          <a:xfrm>
            <a:off x="548640" y="4233672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3708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cost or wrong answers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37083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Company uses its own key with a monthly cap; answers cite sources; AI never sees employee data</a:t>
            </a:r>
            <a:endParaRPr lang="en-US" sz="1400" dirty="0"/>
          </a:p>
        </p:txBody>
      </p:sp>
      <p:sp>
        <p:nvSpPr>
          <p:cNvPr id="15" name="risk-4"/>
          <p:cNvSpPr/>
          <p:nvPr/>
        </p:nvSpPr>
        <p:spPr>
          <a:xfrm>
            <a:off x="548640" y="5202936"/>
            <a:ext cx="1106424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34009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Small team, many modules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5340096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Launch with what is live; add modules by paying-client demand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Decisions we ask from the board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 </a:t>
            </a:r>
            <a:endParaRPr lang="en-US" sz="2000" dirty="0"/>
          </a:p>
        </p:txBody>
      </p:sp>
      <p:sp>
        <p:nvSpPr>
          <p:cNvPr id="4" name="dot-1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703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a 3–5 company pilot from December 2026, with at least one factory</a:t>
            </a:r>
            <a:endParaRPr lang="en-US" sz="1600" dirty="0"/>
          </a:p>
        </p:txBody>
      </p:sp>
      <p:sp>
        <p:nvSpPr>
          <p:cNvPr id="7" name="dot-2"/>
          <p:cNvSpPr/>
          <p:nvPr/>
        </p:nvSpPr>
        <p:spPr>
          <a:xfrm>
            <a:off x="54864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4343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Approve the launch budget: hosting, AI and SMS usage, legal and tax advice, security test</a:t>
            </a:r>
            <a:endParaRPr lang="en-US" sz="1600" dirty="0"/>
          </a:p>
        </p:txBody>
      </p:sp>
      <p:sp>
        <p:nvSpPr>
          <p:cNvPr id="10" name="dot-3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98348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Agree the pricing model (per employee per month, BDT) to test in the pilot</a:t>
            </a:r>
            <a:endParaRPr lang="en-US" sz="1600" dirty="0"/>
          </a:p>
        </p:txBody>
      </p:sp>
      <p:sp>
        <p:nvSpPr>
          <p:cNvPr id="13" name="dot-4"/>
          <p:cNvSpPr/>
          <p:nvPr/>
        </p:nvSpPr>
        <p:spPr>
          <a:xfrm>
            <a:off x="548640" y="55778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62356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Name owners for sales, support and legal set-up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lympus Board">
  <a:themeElements>
    <a:clrScheme name="Olympus Board">
      <a:dk1>
        <a:srgbClr val="1C2433"/>
      </a:dk1>
      <a:lt1>
        <a:srgbClr val="FFFFFF"/>
      </a:lt1>
      <a:dk2>
        <a:srgbClr val="475569"/>
      </a:dk2>
      <a:lt2>
        <a:srgbClr val="F1F5F9"/>
      </a:lt2>
      <a:accent1>
        <a:srgbClr val="EA580C"/>
      </a:accent1>
      <a:accent2>
        <a:srgbClr val="16A34A"/>
      </a:accent2>
      <a:accent3>
        <a:srgbClr val="D97706"/>
      </a:accent3>
      <a:accent4>
        <a:srgbClr val="94A3B8"/>
      </a:accent4>
      <a:accent5>
        <a:srgbClr val="9A3412"/>
      </a:accent5>
      <a:accent6>
        <a:srgbClr val="FED7AA"/>
      </a:accent6>
      <a:hlink>
        <a:srgbClr val="EA580C"/>
      </a:hlink>
      <a:folHlink>
        <a:srgbClr val="9A3412"/>
      </a:folHlink>
    </a:clrScheme>
    <a:fontScheme name="Olympus Bo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Olympus HRIS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Olympus HRIS — Project overview</dc:title>
  <dc:subject>PptxGenJS Presentation</dc:subject>
  <dc:creator>Olympus HRIS</dc:creator>
  <cp:lastModifiedBy>Olympus HRIS</cp:lastModifiedBy>
  <cp:revision>1</cp:revision>
  <dcterms:created xsi:type="dcterms:W3CDTF">2026-10-28T03:09:53Z</dcterms:created>
  <dcterms:modified xsi:type="dcterms:W3CDTF">2026-10-28T03:09:53Z</dcterms:modified>
</cp:coreProperties>
</file>